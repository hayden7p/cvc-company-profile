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ASSAGNE Pierre" userId="0497a184-52ef-4bac-9348-9b18cb824209" providerId="ADAL" clId="{7DABF83E-FE9E-4056-BCED-238AE144661D}"/>
    <pc:docChg chg="modSld">
      <pc:chgData name="LACASSAGNE Pierre" userId="0497a184-52ef-4bac-9348-9b18cb824209" providerId="ADAL" clId="{7DABF83E-FE9E-4056-BCED-238AE144661D}" dt="2026-02-02T14:44:46.794" v="10" actId="1076"/>
      <pc:docMkLst>
        <pc:docMk/>
      </pc:docMkLst>
      <pc:sldChg chg="modSp mod">
        <pc:chgData name="LACASSAGNE Pierre" userId="0497a184-52ef-4bac-9348-9b18cb824209" providerId="ADAL" clId="{7DABF83E-FE9E-4056-BCED-238AE144661D}" dt="2026-02-02T14:44:46.794" v="10" actId="1076"/>
        <pc:sldMkLst>
          <pc:docMk/>
          <pc:sldMk cId="0" sldId="256"/>
        </pc:sldMkLst>
        <pc:spChg chg="mod">
          <ac:chgData name="LACASSAGNE Pierre" userId="0497a184-52ef-4bac-9348-9b18cb824209" providerId="ADAL" clId="{7DABF83E-FE9E-4056-BCED-238AE144661D}" dt="2026-02-02T14:44:46.794" v="10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2-02T14:44:30.639" v="9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LACASSAGNE Pierre" userId="0497a184-52ef-4bac-9348-9b18cb824209" providerId="ADAL" clId="{7DABF83E-FE9E-4056-BCED-238AE144661D}" dt="2026-02-02T14:43:38.939" v="1" actId="255"/>
          <ac:spMkLst>
            <pc:docMk/>
            <pc:sldMk cId="0" sldId="256"/>
            <ac:spMk id="140" creationId="{BF5B0CE0-B6F7-C8EE-4B5C-2C1EB6B0C622}"/>
          </ac:spMkLst>
        </pc:spChg>
        <pc:spChg chg="mod">
          <ac:chgData name="LACASSAGNE Pierre" userId="0497a184-52ef-4bac-9348-9b18cb824209" providerId="ADAL" clId="{7DABF83E-FE9E-4056-BCED-238AE144661D}" dt="2026-02-02T14:43:54.169" v="7" actId="403"/>
          <ac:spMkLst>
            <pc:docMk/>
            <pc:sldMk cId="0" sldId="256"/>
            <ac:spMk id="141" creationId="{69FA3F2C-2DEC-55A3-7883-A7B47AF332A2}"/>
          </ac:spMkLst>
        </pc:spChg>
        <pc:spChg chg="mod">
          <ac:chgData name="LACASSAGNE Pierre" userId="0497a184-52ef-4bac-9348-9b18cb824209" providerId="ADAL" clId="{7DABF83E-FE9E-4056-BCED-238AE144661D}" dt="2026-02-02T14:44:02.577" v="8" actId="108"/>
          <ac:spMkLst>
            <pc:docMk/>
            <pc:sldMk cId="0" sldId="256"/>
            <ac:spMk id="142" creationId="{3B70E413-C7E9-3BDD-8097-1CD3B98100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21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4A540B4-8F5A-A4C2-4115-650A43C6BC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5">
            <a:extLst>
              <a:ext uri="{FF2B5EF4-FFF2-40B4-BE49-F238E27FC236}">
                <a16:creationId xmlns:a16="http://schemas.microsoft.com/office/drawing/2014/main" id="{3C7F37D3-4F56-F91B-9D87-AFE525A785C4}"/>
              </a:ext>
            </a:extLst>
          </p:cNvPr>
          <p:cNvSpPr/>
          <p:nvPr/>
        </p:nvSpPr>
        <p:spPr>
          <a:xfrm>
            <a:off x="-11768" y="0"/>
            <a:ext cx="12200299" cy="68918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133502" y="714146"/>
            <a:ext cx="5905195" cy="1171347"/>
          </a:xfrm>
          <a:prstGeom prst="roundRect">
            <a:avLst>
              <a:gd name="adj" fmla="val 1563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523036" y="816423"/>
            <a:ext cx="5582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7744" y="890626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5467" r="-5467"/>
          <a:stretch/>
        </p:blipFill>
        <p:spPr>
          <a:xfrm>
            <a:off x="371246" y="833018"/>
            <a:ext cx="95098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46193" y="1020557"/>
            <a:ext cx="5772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[Clear, concise statement of the unique benefits and distinctive advantage that the company offers to customers]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246889" y="1171041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[Primary pain point addressed by the solution]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2235878" y="1166842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[Secondary pain point or problem solved]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261061" y="1433474"/>
            <a:ext cx="5811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use cases</a:t>
            </a:r>
            <a:endParaRPr lang="en-US" sz="1000" b="1" dirty="0">
              <a:solidFill>
                <a:srgbClr val="333333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33502" y="1981657"/>
            <a:ext cx="5905195" cy="527609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 txBox="1"/>
          <p:nvPr/>
        </p:nvSpPr>
        <p:spPr>
          <a:xfrm>
            <a:off x="571042" y="2085899"/>
            <a:ext cx="5524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237744" y="2158136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rcRect l="-3440" r="-3440"/>
          <a:stretch/>
        </p:blipFill>
        <p:spPr>
          <a:xfrm>
            <a:off x="371246" y="2100529"/>
            <a:ext cx="152705" cy="1143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37744" y="2266950"/>
            <a:ext cx="5772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[Team background : founders experience, key executives, technical expertise, industry knowledge, and prior successes]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133502" y="2594306"/>
            <a:ext cx="5905195" cy="49407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6"/>
          <p:cNvSpPr txBox="1"/>
          <p:nvPr/>
        </p:nvSpPr>
        <p:spPr>
          <a:xfrm>
            <a:off x="541781" y="2699462"/>
            <a:ext cx="5554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237744" y="2770785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rcRect l="-4000" r="-4000"/>
          <a:stretch/>
        </p:blipFill>
        <p:spPr>
          <a:xfrm>
            <a:off x="371246" y="2714092"/>
            <a:ext cx="123444" cy="1143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237744" y="2880513"/>
            <a:ext cx="5772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[Business model description : how the company generates revenue, pricing strategy, customer acquisition, and unit economics]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133502" y="3158338"/>
            <a:ext cx="5905195" cy="933602"/>
          </a:xfrm>
          <a:prstGeom prst="roundRect">
            <a:avLst>
              <a:gd name="adj" fmla="val 5997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 txBox="1"/>
          <p:nvPr/>
        </p:nvSpPr>
        <p:spPr>
          <a:xfrm>
            <a:off x="532180" y="3251526"/>
            <a:ext cx="5554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237744" y="3334818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371246" y="3277210"/>
            <a:ext cx="123444" cy="1143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237744" y="3456431"/>
            <a:ext cx="6382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[Market details : size, growth rate, trends, opportunities, target segments, and addressable market value]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237744" y="3666745"/>
            <a:ext cx="5695798" cy="314554"/>
          </a:xfrm>
          <a:prstGeom prst="rect">
            <a:avLst/>
          </a:prstGeom>
          <a:solidFill>
            <a:srgbClr val="D4AF37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4"/>
          <p:cNvSpPr/>
          <p:nvPr/>
        </p:nvSpPr>
        <p:spPr>
          <a:xfrm>
            <a:off x="237744" y="3666745"/>
            <a:ext cx="28346" cy="31455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5"/>
          <p:cNvSpPr txBox="1"/>
          <p:nvPr/>
        </p:nvSpPr>
        <p:spPr>
          <a:xfrm>
            <a:off x="362102" y="3749992"/>
            <a:ext cx="5553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: </a:t>
            </a:r>
            <a:r>
              <a:rPr lang="en-US" sz="9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TAM: $XXBSAM: $XXBSOM: $XXM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133502" y="4160976"/>
            <a:ext cx="5905195" cy="543154"/>
          </a:xfrm>
          <a:prstGeom prst="roundRect">
            <a:avLst>
              <a:gd name="adj" fmla="val 17721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 txBox="1"/>
          <p:nvPr/>
        </p:nvSpPr>
        <p:spPr>
          <a:xfrm>
            <a:off x="541781" y="4266132"/>
            <a:ext cx="5554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237744" y="4337456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371246" y="4279848"/>
            <a:ext cx="123444" cy="1143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268835" y="4432931"/>
            <a:ext cx="6382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[Competitive landscape : major competitors, market positioning, barriers to entry., new up and comers.]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6152998" y="714146"/>
            <a:ext cx="5905195" cy="724205"/>
          </a:xfrm>
          <a:prstGeom prst="roundRect">
            <a:avLst>
              <a:gd name="adj" fmla="val 9968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41"/>
          <p:cNvSpPr txBox="1"/>
          <p:nvPr/>
        </p:nvSpPr>
        <p:spPr>
          <a:xfrm>
            <a:off x="6580938" y="819302"/>
            <a:ext cx="557326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Differentiators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6258154" y="890626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391656" y="833018"/>
            <a:ext cx="105156" cy="11430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58154" y="1000354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[Unique selling point 1: key advantage or innovation]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6258154" y="1165860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[Unique selling point 2: business model or approach]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6152998" y="1493215"/>
            <a:ext cx="5905195" cy="1590061"/>
          </a:xfrm>
          <a:prstGeom prst="roundRect">
            <a:avLst>
              <a:gd name="adj" fmla="val 1860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5" name="Text 46"/>
          <p:cNvSpPr txBox="1"/>
          <p:nvPr/>
        </p:nvSpPr>
        <p:spPr>
          <a:xfrm>
            <a:off x="6609283" y="1598371"/>
            <a:ext cx="5554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 &amp; GTM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6258154" y="1669694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9"/>
          <a:srcRect l="-4000" r="-4000"/>
          <a:stretch/>
        </p:blipFill>
        <p:spPr>
          <a:xfrm>
            <a:off x="6391656" y="1613002"/>
            <a:ext cx="123444" cy="1143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258154" y="1779422"/>
            <a:ext cx="5811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59" name="Text 49"/>
          <p:cNvSpPr txBox="1"/>
          <p:nvPr/>
        </p:nvSpPr>
        <p:spPr>
          <a:xfrm>
            <a:off x="6258154" y="1932127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[core GTM approach]</a:t>
            </a:r>
            <a:endParaRPr lang="en-US" sz="800" dirty="0"/>
          </a:p>
        </p:txBody>
      </p:sp>
      <p:sp>
        <p:nvSpPr>
          <p:cNvPr id="60" name="Text 50"/>
          <p:cNvSpPr txBox="1"/>
          <p:nvPr/>
        </p:nvSpPr>
        <p:spPr>
          <a:xfrm>
            <a:off x="6258154" y="2097634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Channels: [primary distribution channels]</a:t>
            </a:r>
            <a:endParaRPr lang="en-US" sz="800" dirty="0"/>
          </a:p>
        </p:txBody>
      </p:sp>
      <p:sp>
        <p:nvSpPr>
          <p:cNvPr id="61" name="Text 51"/>
          <p:cNvSpPr txBox="1"/>
          <p:nvPr/>
        </p:nvSpPr>
        <p:spPr>
          <a:xfrm>
            <a:off x="6258154" y="2263140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Pipeline: [current sales pipeline status]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6258154" y="2486254"/>
            <a:ext cx="5695798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53"/>
          <p:cNvSpPr txBox="1"/>
          <p:nvPr/>
        </p:nvSpPr>
        <p:spPr>
          <a:xfrm>
            <a:off x="6258154" y="2524658"/>
            <a:ext cx="5811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KPIs</a:t>
            </a:r>
            <a:endParaRPr lang="en-US" sz="800" dirty="0"/>
          </a:p>
        </p:txBody>
      </p:sp>
      <p:sp>
        <p:nvSpPr>
          <p:cNvPr id="64" name="Text 54"/>
          <p:cNvSpPr txBox="1"/>
          <p:nvPr/>
        </p:nvSpPr>
        <p:spPr>
          <a:xfrm>
            <a:off x="6258154" y="2676449"/>
            <a:ext cx="5811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Product-Market Fit Current Customers Pipeline</a:t>
            </a:r>
            <a:endParaRPr lang="en-US" sz="800" dirty="0"/>
          </a:p>
        </p:txBody>
      </p:sp>
      <p:sp>
        <p:nvSpPr>
          <p:cNvPr id="65" name="Text 55"/>
          <p:cNvSpPr txBox="1"/>
          <p:nvPr/>
        </p:nvSpPr>
        <p:spPr>
          <a:xfrm>
            <a:off x="6258154" y="2848356"/>
            <a:ext cx="5811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LTV Churn ARR Partnerships</a:t>
            </a:r>
            <a:endParaRPr lang="en-US" sz="800" dirty="0"/>
          </a:p>
        </p:txBody>
      </p:sp>
      <p:sp>
        <p:nvSpPr>
          <p:cNvPr id="66" name="Shape 56"/>
          <p:cNvSpPr/>
          <p:nvPr/>
        </p:nvSpPr>
        <p:spPr>
          <a:xfrm>
            <a:off x="6152998" y="3123299"/>
            <a:ext cx="5905195" cy="518465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7" name="Text 57"/>
          <p:cNvSpPr txBox="1"/>
          <p:nvPr/>
        </p:nvSpPr>
        <p:spPr>
          <a:xfrm>
            <a:off x="6580938" y="3228455"/>
            <a:ext cx="5544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Fundraising</a:t>
            </a:r>
            <a:endParaRPr lang="en-US" sz="800" dirty="0"/>
          </a:p>
        </p:txBody>
      </p:sp>
      <p:sp>
        <p:nvSpPr>
          <p:cNvPr id="68" name="Shape 58"/>
          <p:cNvSpPr/>
          <p:nvPr/>
        </p:nvSpPr>
        <p:spPr>
          <a:xfrm>
            <a:off x="6258154" y="3299779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 r:embed="rId10"/>
          <a:srcRect l="-1911" r="-1911"/>
          <a:stretch/>
        </p:blipFill>
        <p:spPr>
          <a:xfrm>
            <a:off x="6391656" y="3242171"/>
            <a:ext cx="133502" cy="114300"/>
          </a:xfrm>
          <a:prstGeom prst="rect">
            <a:avLst/>
          </a:prstGeom>
        </p:spPr>
      </p:pic>
      <p:sp>
        <p:nvSpPr>
          <p:cNvPr id="70" name="Text 59"/>
          <p:cNvSpPr txBox="1"/>
          <p:nvPr/>
        </p:nvSpPr>
        <p:spPr>
          <a:xfrm>
            <a:off x="6258154" y="3409507"/>
            <a:ext cx="5772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[Total raised: $X | Current round: $X | Pre-money valuation: $X | Post-money: $X | Lead investors: X | Use of funds: X]</a:t>
            </a:r>
            <a:endParaRPr lang="en-US" sz="800" dirty="0"/>
          </a:p>
        </p:txBody>
      </p:sp>
      <p:sp>
        <p:nvSpPr>
          <p:cNvPr id="71" name="Shape 60"/>
          <p:cNvSpPr/>
          <p:nvPr/>
        </p:nvSpPr>
        <p:spPr>
          <a:xfrm>
            <a:off x="6161683" y="3709043"/>
            <a:ext cx="5905195" cy="490119"/>
          </a:xfrm>
          <a:prstGeom prst="roundRect">
            <a:avLst>
              <a:gd name="adj" fmla="val 17721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2" name="Text 61"/>
          <p:cNvSpPr txBox="1"/>
          <p:nvPr/>
        </p:nvSpPr>
        <p:spPr>
          <a:xfrm>
            <a:off x="6533389" y="3813284"/>
            <a:ext cx="56016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73" name="Shape 62"/>
          <p:cNvSpPr/>
          <p:nvPr/>
        </p:nvSpPr>
        <p:spPr>
          <a:xfrm>
            <a:off x="6266839" y="3884608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 r:embed="rId11"/>
          <a:srcRect l="-3120" r="-3120"/>
          <a:stretch/>
        </p:blipFill>
        <p:spPr>
          <a:xfrm>
            <a:off x="6400341" y="3827915"/>
            <a:ext cx="75895" cy="114300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6258154" y="4004694"/>
            <a:ext cx="61493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[Historical revenue: $X | Growth: X% YoY | Margins: X% | Burn rate: $X/month | Runway: X months]</a:t>
            </a:r>
            <a:endParaRPr lang="en-US" sz="800" dirty="0"/>
          </a:p>
        </p:txBody>
      </p:sp>
      <p:sp>
        <p:nvSpPr>
          <p:cNvPr id="76" name="Shape 64"/>
          <p:cNvSpPr/>
          <p:nvPr/>
        </p:nvSpPr>
        <p:spPr>
          <a:xfrm>
            <a:off x="6161683" y="4303403"/>
            <a:ext cx="5905195" cy="796442"/>
          </a:xfrm>
          <a:prstGeom prst="roundRect">
            <a:avLst>
              <a:gd name="adj" fmla="val 4676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7" name="Text 65"/>
          <p:cNvSpPr txBox="1"/>
          <p:nvPr/>
        </p:nvSpPr>
        <p:spPr>
          <a:xfrm>
            <a:off x="6580938" y="4407644"/>
            <a:ext cx="55540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52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Risks</a:t>
            </a:r>
            <a:endParaRPr lang="en-US" sz="800" dirty="0"/>
          </a:p>
        </p:txBody>
      </p:sp>
      <p:sp>
        <p:nvSpPr>
          <p:cNvPr id="78" name="Shape 66"/>
          <p:cNvSpPr/>
          <p:nvPr/>
        </p:nvSpPr>
        <p:spPr>
          <a:xfrm>
            <a:off x="6266839" y="4478968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2"/>
          <a:srcRect l="-4000" r="-4000"/>
          <a:stretch/>
        </p:blipFill>
        <p:spPr>
          <a:xfrm>
            <a:off x="6400341" y="4422275"/>
            <a:ext cx="123444" cy="114300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6266839" y="4588696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risk 1: technology, market, or execution risk]</a:t>
            </a:r>
            <a:endParaRPr lang="en-US" sz="800" dirty="0"/>
          </a:p>
        </p:txBody>
      </p:sp>
      <p:sp>
        <p:nvSpPr>
          <p:cNvPr id="81" name="Text 68"/>
          <p:cNvSpPr txBox="1"/>
          <p:nvPr/>
        </p:nvSpPr>
        <p:spPr>
          <a:xfrm>
            <a:off x="6266839" y="4755116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risk 2: competitive threat or market adoption]</a:t>
            </a:r>
            <a:endParaRPr lang="en-US" sz="800" dirty="0"/>
          </a:p>
        </p:txBody>
      </p:sp>
      <p:sp>
        <p:nvSpPr>
          <p:cNvPr id="82" name="Text 69"/>
          <p:cNvSpPr txBox="1"/>
          <p:nvPr/>
        </p:nvSpPr>
        <p:spPr>
          <a:xfrm>
            <a:off x="6266839" y="4920623"/>
            <a:ext cx="5811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[Key risk 3: regulatory or scaling challenge]</a:t>
            </a:r>
            <a:endParaRPr lang="en-US" sz="800" dirty="0"/>
          </a:p>
        </p:txBody>
      </p:sp>
      <p:sp>
        <p:nvSpPr>
          <p:cNvPr id="84" name="Shape 71"/>
          <p:cNvSpPr/>
          <p:nvPr/>
        </p:nvSpPr>
        <p:spPr>
          <a:xfrm>
            <a:off x="-3163" y="5257564"/>
            <a:ext cx="12191694" cy="16342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Shape 52">
            <a:extLst>
              <a:ext uri="{FF2B5EF4-FFF2-40B4-BE49-F238E27FC236}">
                <a16:creationId xmlns:a16="http://schemas.microsoft.com/office/drawing/2014/main" id="{125087FF-FA9A-A367-90CE-466242689B5D}"/>
              </a:ext>
            </a:extLst>
          </p:cNvPr>
          <p:cNvSpPr/>
          <p:nvPr/>
        </p:nvSpPr>
        <p:spPr>
          <a:xfrm flipV="1">
            <a:off x="1083" y="544982"/>
            <a:ext cx="12191695" cy="457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0" name="Shape 75">
            <a:extLst>
              <a:ext uri="{FF2B5EF4-FFF2-40B4-BE49-F238E27FC236}">
                <a16:creationId xmlns:a16="http://schemas.microsoft.com/office/drawing/2014/main" id="{1B7FDF1E-87C5-03C8-F697-D821D75E3767}"/>
              </a:ext>
            </a:extLst>
          </p:cNvPr>
          <p:cNvSpPr/>
          <p:nvPr/>
        </p:nvSpPr>
        <p:spPr>
          <a:xfrm>
            <a:off x="-3163" y="551050"/>
            <a:ext cx="12198021" cy="35594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1" name="Image 12" descr="preencoded.png">
            <a:extLst>
              <a:ext uri="{FF2B5EF4-FFF2-40B4-BE49-F238E27FC236}">
                <a16:creationId xmlns:a16="http://schemas.microsoft.com/office/drawing/2014/main" id="{8AAD40E1-22AD-E76B-3D6C-52AAAB598BD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60084" y="129280"/>
            <a:ext cx="304495" cy="304495"/>
          </a:xfrm>
          <a:prstGeom prst="rect">
            <a:avLst/>
          </a:prstGeom>
        </p:spPr>
      </p:pic>
      <p:sp>
        <p:nvSpPr>
          <p:cNvPr id="122" name="Text 76">
            <a:extLst>
              <a:ext uri="{FF2B5EF4-FFF2-40B4-BE49-F238E27FC236}">
                <a16:creationId xmlns:a16="http://schemas.microsoft.com/office/drawing/2014/main" id="{3E098979-EC22-85C6-E8DE-F2AB876ADCE3}"/>
              </a:ext>
            </a:extLst>
          </p:cNvPr>
          <p:cNvSpPr txBox="1"/>
          <p:nvPr/>
        </p:nvSpPr>
        <p:spPr>
          <a:xfrm>
            <a:off x="1568822" y="129280"/>
            <a:ext cx="2257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b="1">
                <a:solidFill>
                  <a:schemeClr val="accent2"/>
                </a:solidFill>
                <a:latin typeface="Arial Bold"/>
                <a:ea typeface="Montserrat" pitchFamily="34" charset="-122"/>
                <a:cs typeface="Montserrat" pitchFamily="34" charset="-120"/>
              </a:defRPr>
            </a:lvl1pPr>
          </a:lstStyle>
          <a:p>
            <a:r>
              <a:rPr lang="en-US" dirty="0"/>
              <a:t>[Company Name]</a:t>
            </a:r>
          </a:p>
        </p:txBody>
      </p:sp>
      <p:sp>
        <p:nvSpPr>
          <p:cNvPr id="123" name="Shape 77">
            <a:extLst>
              <a:ext uri="{FF2B5EF4-FFF2-40B4-BE49-F238E27FC236}">
                <a16:creationId xmlns:a16="http://schemas.microsoft.com/office/drawing/2014/main" id="{E9714942-F55F-C065-FA1D-657279CC3B42}"/>
              </a:ext>
            </a:extLst>
          </p:cNvPr>
          <p:cNvSpPr/>
          <p:nvPr/>
        </p:nvSpPr>
        <p:spPr>
          <a:xfrm>
            <a:off x="8812129" y="170503"/>
            <a:ext cx="875995" cy="247802"/>
          </a:xfrm>
          <a:prstGeom prst="roundRect">
            <a:avLst>
              <a:gd name="adj" fmla="val 85155"/>
            </a:avLst>
          </a:prstGeom>
          <a:solidFill>
            <a:srgbClr val="D4AF37"/>
          </a:solidFill>
          <a:ln/>
          <a:effectLst>
            <a:outerShdw blurRad="63500" dist="25400" dir="5400000" algn="bl" rotWithShape="0">
              <a:srgbClr val="D4AF37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4" name="Text 78">
            <a:extLst>
              <a:ext uri="{FF2B5EF4-FFF2-40B4-BE49-F238E27FC236}">
                <a16:creationId xmlns:a16="http://schemas.microsoft.com/office/drawing/2014/main" id="{40CA7B8A-9911-68F6-EECE-69DB18641158}"/>
              </a:ext>
            </a:extLst>
          </p:cNvPr>
          <p:cNvSpPr txBox="1"/>
          <p:nvPr/>
        </p:nvSpPr>
        <p:spPr>
          <a:xfrm>
            <a:off x="8931402" y="215199"/>
            <a:ext cx="7790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[Category]</a:t>
            </a:r>
            <a:endParaRPr lang="en-US" sz="900" dirty="0"/>
          </a:p>
        </p:txBody>
      </p:sp>
      <p:sp>
        <p:nvSpPr>
          <p:cNvPr id="125" name="Shape 79">
            <a:extLst>
              <a:ext uri="{FF2B5EF4-FFF2-40B4-BE49-F238E27FC236}">
                <a16:creationId xmlns:a16="http://schemas.microsoft.com/office/drawing/2014/main" id="{4401D6D5-54E3-072B-1481-04BC4EE91494}"/>
              </a:ext>
            </a:extLst>
          </p:cNvPr>
          <p:cNvSpPr/>
          <p:nvPr/>
        </p:nvSpPr>
        <p:spPr>
          <a:xfrm>
            <a:off x="3570353" y="179789"/>
            <a:ext cx="1028700" cy="237744"/>
          </a:xfrm>
          <a:prstGeom prst="roundRect">
            <a:avLst>
              <a:gd name="adj" fmla="val 92308"/>
            </a:avLst>
          </a:prstGeom>
          <a:noFill/>
          <a:ln w="12700">
            <a:solidFill>
              <a:srgbClr val="D4AF37"/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6" name="Image 13" descr="preencoded.png">
            <a:extLst>
              <a:ext uri="{FF2B5EF4-FFF2-40B4-BE49-F238E27FC236}">
                <a16:creationId xmlns:a16="http://schemas.microsoft.com/office/drawing/2014/main" id="{4267FEBA-B280-3C84-0877-0A25F92DC5F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55438" y="256774"/>
            <a:ext cx="105156" cy="105156"/>
          </a:xfrm>
          <a:prstGeom prst="rect">
            <a:avLst/>
          </a:prstGeom>
        </p:spPr>
      </p:pic>
      <p:sp>
        <p:nvSpPr>
          <p:cNvPr id="127" name="Text 80">
            <a:extLst>
              <a:ext uri="{FF2B5EF4-FFF2-40B4-BE49-F238E27FC236}">
                <a16:creationId xmlns:a16="http://schemas.microsoft.com/office/drawing/2014/main" id="{B6D740A3-CF6A-69A6-956B-BDBAC031A5AE}"/>
              </a:ext>
            </a:extLst>
          </p:cNvPr>
          <p:cNvSpPr txBox="1"/>
          <p:nvPr/>
        </p:nvSpPr>
        <p:spPr>
          <a:xfrm>
            <a:off x="3699161" y="200883"/>
            <a:ext cx="899428" cy="181335"/>
          </a:xfrm>
          <a:prstGeom prst="rect">
            <a:avLst/>
          </a:prstGeom>
        </p:spPr>
        <p:txBody>
          <a:bodyPr/>
          <a:lstStyle>
            <a:lvl1pPr indent="0">
              <a:buNone/>
              <a:defRPr sz="800">
                <a:solidFill>
                  <a:srgbClr val="444444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[website.com]</a:t>
            </a:r>
          </a:p>
        </p:txBody>
      </p:sp>
      <p:sp>
        <p:nvSpPr>
          <p:cNvPr id="128" name="Shape 81">
            <a:extLst>
              <a:ext uri="{FF2B5EF4-FFF2-40B4-BE49-F238E27FC236}">
                <a16:creationId xmlns:a16="http://schemas.microsoft.com/office/drawing/2014/main" id="{0F506EA3-668E-6352-E956-5EB62F04EAC9}"/>
              </a:ext>
            </a:extLst>
          </p:cNvPr>
          <p:cNvSpPr/>
          <p:nvPr/>
        </p:nvSpPr>
        <p:spPr>
          <a:xfrm>
            <a:off x="9808769" y="176479"/>
            <a:ext cx="638251" cy="214927"/>
          </a:xfrm>
          <a:prstGeom prst="roundRect">
            <a:avLst>
              <a:gd name="adj" fmla="val 72464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0000">
                <a:alpha val="8000"/>
              </a:srgbClr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9" name="Shape 82">
            <a:extLst>
              <a:ext uri="{FF2B5EF4-FFF2-40B4-BE49-F238E27FC236}">
                <a16:creationId xmlns:a16="http://schemas.microsoft.com/office/drawing/2014/main" id="{48C1AA46-855D-CDD5-4E58-4DB844E78148}"/>
              </a:ext>
            </a:extLst>
          </p:cNvPr>
          <p:cNvSpPr/>
          <p:nvPr/>
        </p:nvSpPr>
        <p:spPr>
          <a:xfrm>
            <a:off x="11074298" y="176479"/>
            <a:ext cx="685800" cy="219456"/>
          </a:xfrm>
          <a:prstGeom prst="roundRect">
            <a:avLst>
              <a:gd name="adj" fmla="val 72464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000000">
                <a:alpha val="8000"/>
              </a:srgbClr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0" name="Text 83">
            <a:extLst>
              <a:ext uri="{FF2B5EF4-FFF2-40B4-BE49-F238E27FC236}">
                <a16:creationId xmlns:a16="http://schemas.microsoft.com/office/drawing/2014/main" id="{D1303366-0DAC-F5B8-2444-F549F7809728}"/>
              </a:ext>
            </a:extLst>
          </p:cNvPr>
          <p:cNvSpPr txBox="1"/>
          <p:nvPr/>
        </p:nvSpPr>
        <p:spPr>
          <a:xfrm>
            <a:off x="9894722" y="224028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[Country]</a:t>
            </a:r>
            <a:endParaRPr lang="en-US" sz="800" dirty="0"/>
          </a:p>
        </p:txBody>
      </p:sp>
      <p:sp>
        <p:nvSpPr>
          <p:cNvPr id="131" name="Text 84">
            <a:extLst>
              <a:ext uri="{FF2B5EF4-FFF2-40B4-BE49-F238E27FC236}">
                <a16:creationId xmlns:a16="http://schemas.microsoft.com/office/drawing/2014/main" id="{8BFC35B5-6CA0-11CA-022F-0D38F04249F7}"/>
              </a:ext>
            </a:extLst>
          </p:cNvPr>
          <p:cNvSpPr txBox="1"/>
          <p:nvPr/>
        </p:nvSpPr>
        <p:spPr>
          <a:xfrm>
            <a:off x="11237262" y="230693"/>
            <a:ext cx="5907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[20XX]</a:t>
            </a:r>
            <a:endParaRPr lang="en-US" sz="800" dirty="0"/>
          </a:p>
        </p:txBody>
      </p:sp>
      <p:sp>
        <p:nvSpPr>
          <p:cNvPr id="132" name="Shape 85">
            <a:extLst>
              <a:ext uri="{FF2B5EF4-FFF2-40B4-BE49-F238E27FC236}">
                <a16:creationId xmlns:a16="http://schemas.microsoft.com/office/drawing/2014/main" id="{EB4D86F4-3615-F5CA-E3BB-74AA0237D6D6}"/>
              </a:ext>
            </a:extLst>
          </p:cNvPr>
          <p:cNvSpPr/>
          <p:nvPr/>
        </p:nvSpPr>
        <p:spPr>
          <a:xfrm>
            <a:off x="10497312" y="176479"/>
            <a:ext cx="523951" cy="219456"/>
          </a:xfrm>
          <a:prstGeom prst="roundRect">
            <a:avLst>
              <a:gd name="adj" fmla="val 72464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3" name="Text 86">
            <a:extLst>
              <a:ext uri="{FF2B5EF4-FFF2-40B4-BE49-F238E27FC236}">
                <a16:creationId xmlns:a16="http://schemas.microsoft.com/office/drawing/2014/main" id="{189EA07A-BBA6-B7DA-1454-11E5867B78F8}"/>
              </a:ext>
            </a:extLst>
          </p:cNvPr>
          <p:cNvSpPr txBox="1"/>
          <p:nvPr/>
        </p:nvSpPr>
        <p:spPr>
          <a:xfrm>
            <a:off x="10583266" y="224028"/>
            <a:ext cx="4288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[Stage]</a:t>
            </a:r>
            <a:endParaRPr lang="en-US" sz="800" dirty="0"/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EBE0F686-CFF1-0021-212E-9FA8008E32B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3149" t="-3231" r="23344" b="26724"/>
          <a:stretch>
            <a:fillRect/>
          </a:stretch>
        </p:blipFill>
        <p:spPr>
          <a:xfrm>
            <a:off x="93194" y="121773"/>
            <a:ext cx="635508" cy="322755"/>
          </a:xfrm>
          <a:prstGeom prst="rect">
            <a:avLst/>
          </a:prstGeom>
        </p:spPr>
      </p:pic>
      <p:sp>
        <p:nvSpPr>
          <p:cNvPr id="135" name="Text 42">
            <a:extLst>
              <a:ext uri="{FF2B5EF4-FFF2-40B4-BE49-F238E27FC236}">
                <a16:creationId xmlns:a16="http://schemas.microsoft.com/office/drawing/2014/main" id="{AC68B29F-F1A2-D082-BF85-3C312A5F98E6}"/>
              </a:ext>
            </a:extLst>
          </p:cNvPr>
          <p:cNvSpPr txBox="1"/>
          <p:nvPr/>
        </p:nvSpPr>
        <p:spPr>
          <a:xfrm>
            <a:off x="246889" y="1529858"/>
            <a:ext cx="3213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buNone/>
              <a:defRPr sz="80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[Use Case #1] • [Customer Name - Industry] • [Outcome metrics]</a:t>
            </a:r>
          </a:p>
        </p:txBody>
      </p:sp>
      <p:sp>
        <p:nvSpPr>
          <p:cNvPr id="136" name="Text 42">
            <a:extLst>
              <a:ext uri="{FF2B5EF4-FFF2-40B4-BE49-F238E27FC236}">
                <a16:creationId xmlns:a16="http://schemas.microsoft.com/office/drawing/2014/main" id="{93F5449B-5B10-204D-B348-0533349A1C63}"/>
              </a:ext>
            </a:extLst>
          </p:cNvPr>
          <p:cNvSpPr txBox="1"/>
          <p:nvPr/>
        </p:nvSpPr>
        <p:spPr>
          <a:xfrm>
            <a:off x="246889" y="1707641"/>
            <a:ext cx="3213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buNone/>
              <a:defRPr sz="80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[Use Case #2] • [Customer Name - Industry] • [Outcome metrics]</a:t>
            </a:r>
          </a:p>
        </p:txBody>
      </p:sp>
      <p:sp>
        <p:nvSpPr>
          <p:cNvPr id="137" name="Shape 53">
            <a:extLst>
              <a:ext uri="{FF2B5EF4-FFF2-40B4-BE49-F238E27FC236}">
                <a16:creationId xmlns:a16="http://schemas.microsoft.com/office/drawing/2014/main" id="{66AEA63E-F1F9-0B0E-FCC6-93BE04840BE1}"/>
              </a:ext>
            </a:extLst>
          </p:cNvPr>
          <p:cNvSpPr/>
          <p:nvPr/>
        </p:nvSpPr>
        <p:spPr>
          <a:xfrm>
            <a:off x="5286" y="5256524"/>
            <a:ext cx="12191695" cy="192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8" name="Image 11" descr="preencoded.png">
            <a:extLst>
              <a:ext uri="{FF2B5EF4-FFF2-40B4-BE49-F238E27FC236}">
                <a16:creationId xmlns:a16="http://schemas.microsoft.com/office/drawing/2014/main" id="{6F37B95F-14E3-5622-FEEB-62357042D6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46193" y="5379805"/>
            <a:ext cx="114300" cy="114300"/>
          </a:xfrm>
          <a:prstGeom prst="rect">
            <a:avLst/>
          </a:prstGeom>
        </p:spPr>
      </p:pic>
      <p:sp>
        <p:nvSpPr>
          <p:cNvPr id="139" name="Text 54">
            <a:extLst>
              <a:ext uri="{FF2B5EF4-FFF2-40B4-BE49-F238E27FC236}">
                <a16:creationId xmlns:a16="http://schemas.microsoft.com/office/drawing/2014/main" id="{0E52E3CB-B835-F753-8BB0-B1A42D68E614}"/>
              </a:ext>
            </a:extLst>
          </p:cNvPr>
          <p:cNvSpPr txBox="1"/>
          <p:nvPr/>
        </p:nvSpPr>
        <p:spPr>
          <a:xfrm>
            <a:off x="480641" y="5355574"/>
            <a:ext cx="31747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/ OEM partnerships summary</a:t>
            </a:r>
            <a:endParaRPr lang="en-US" sz="1100" b="1" dirty="0"/>
          </a:p>
        </p:txBody>
      </p:sp>
      <p:sp>
        <p:nvSpPr>
          <p:cNvPr id="140" name="Shape 55">
            <a:extLst>
              <a:ext uri="{FF2B5EF4-FFF2-40B4-BE49-F238E27FC236}">
                <a16:creationId xmlns:a16="http://schemas.microsoft.com/office/drawing/2014/main" id="{BF5B0CE0-B6F7-C8EE-4B5C-2C1EB6B0C622}"/>
              </a:ext>
            </a:extLst>
          </p:cNvPr>
          <p:cNvSpPr/>
          <p:nvPr/>
        </p:nvSpPr>
        <p:spPr>
          <a:xfrm>
            <a:off x="422480" y="5608326"/>
            <a:ext cx="3685326" cy="1081485"/>
          </a:xfrm>
          <a:prstGeom prst="roundRect">
            <a:avLst>
              <a:gd name="adj" fmla="val 17618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r>
              <a:rPr lang="fr-FR" dirty="0"/>
              <a:t>​</a:t>
            </a:r>
          </a:p>
          <a:p>
            <a:r>
              <a:rPr lang="fr-FR" sz="1200" dirty="0"/>
              <a:t>XX</a:t>
            </a:r>
            <a:r>
              <a:rPr lang="en-US" sz="1200" dirty="0"/>
              <a:t>​</a:t>
            </a:r>
          </a:p>
          <a:p>
            <a:r>
              <a:rPr lang="fr-FR" sz="1200" dirty="0"/>
              <a:t>XX​</a:t>
            </a:r>
          </a:p>
          <a:p>
            <a:r>
              <a:rPr lang="fr-FR" sz="1200" dirty="0"/>
              <a:t>XX</a:t>
            </a:r>
          </a:p>
        </p:txBody>
      </p:sp>
      <p:sp>
        <p:nvSpPr>
          <p:cNvPr id="141" name="Shape 56">
            <a:extLst>
              <a:ext uri="{FF2B5EF4-FFF2-40B4-BE49-F238E27FC236}">
                <a16:creationId xmlns:a16="http://schemas.microsoft.com/office/drawing/2014/main" id="{69FA3F2C-2DEC-55A3-7883-A7B47AF332A2}"/>
              </a:ext>
            </a:extLst>
          </p:cNvPr>
          <p:cNvSpPr/>
          <p:nvPr/>
        </p:nvSpPr>
        <p:spPr>
          <a:xfrm>
            <a:off x="4286444" y="5634603"/>
            <a:ext cx="3760446" cy="1055208"/>
          </a:xfrm>
          <a:prstGeom prst="roundRect">
            <a:avLst>
              <a:gd name="adj" fmla="val 17618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r>
              <a:rPr lang="fr-FR" dirty="0"/>
              <a:t>​</a:t>
            </a:r>
          </a:p>
          <a:p>
            <a:r>
              <a:rPr lang="fr-FR" sz="1200" dirty="0"/>
              <a:t>XX</a:t>
            </a:r>
            <a:r>
              <a:rPr lang="en-US" sz="1200" dirty="0"/>
              <a:t>​</a:t>
            </a:r>
          </a:p>
          <a:p>
            <a:r>
              <a:rPr lang="fr-FR" sz="1200" dirty="0"/>
              <a:t>XX​</a:t>
            </a:r>
          </a:p>
          <a:p>
            <a:r>
              <a:rPr lang="fr-FR" sz="1200" dirty="0"/>
              <a:t>XX</a:t>
            </a:r>
          </a:p>
        </p:txBody>
      </p:sp>
      <p:sp>
        <p:nvSpPr>
          <p:cNvPr id="142" name="Shape 57">
            <a:extLst>
              <a:ext uri="{FF2B5EF4-FFF2-40B4-BE49-F238E27FC236}">
                <a16:creationId xmlns:a16="http://schemas.microsoft.com/office/drawing/2014/main" id="{3B70E413-C7E9-3BDD-8097-1CD3B9810053}"/>
              </a:ext>
            </a:extLst>
          </p:cNvPr>
          <p:cNvSpPr/>
          <p:nvPr/>
        </p:nvSpPr>
        <p:spPr>
          <a:xfrm>
            <a:off x="8225529" y="5627865"/>
            <a:ext cx="3557317" cy="1061946"/>
          </a:xfrm>
          <a:prstGeom prst="roundRect">
            <a:avLst>
              <a:gd name="adj" fmla="val 17618"/>
            </a:avLst>
          </a:prstGeom>
          <a:solidFill>
            <a:srgbClr val="FAFAFA"/>
          </a:solidFill>
          <a:ln w="12700">
            <a:solidFill>
              <a:srgbClr val="E9E9E9"/>
            </a:solidFill>
            <a:prstDash val="solid"/>
          </a:ln>
          <a:effectLst>
            <a:outerShdw blurRad="635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3" name="Shape 58">
            <a:extLst>
              <a:ext uri="{FF2B5EF4-FFF2-40B4-BE49-F238E27FC236}">
                <a16:creationId xmlns:a16="http://schemas.microsoft.com/office/drawing/2014/main" id="{C59364B7-2893-88F7-AAC3-2A7380774BC6}"/>
              </a:ext>
            </a:extLst>
          </p:cNvPr>
          <p:cNvSpPr/>
          <p:nvPr/>
        </p:nvSpPr>
        <p:spPr>
          <a:xfrm>
            <a:off x="481243" y="5883851"/>
            <a:ext cx="358170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4" name="Shape 59">
            <a:extLst>
              <a:ext uri="{FF2B5EF4-FFF2-40B4-BE49-F238E27FC236}">
                <a16:creationId xmlns:a16="http://schemas.microsoft.com/office/drawing/2014/main" id="{56D219E8-8D5F-F6FC-7132-799513DDAB6C}"/>
              </a:ext>
            </a:extLst>
          </p:cNvPr>
          <p:cNvSpPr/>
          <p:nvPr/>
        </p:nvSpPr>
        <p:spPr>
          <a:xfrm>
            <a:off x="4323552" y="5883851"/>
            <a:ext cx="358170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5" name="Shape 60">
            <a:extLst>
              <a:ext uri="{FF2B5EF4-FFF2-40B4-BE49-F238E27FC236}">
                <a16:creationId xmlns:a16="http://schemas.microsoft.com/office/drawing/2014/main" id="{2EFAE672-01F2-842A-61DF-179D518E2D8A}"/>
              </a:ext>
            </a:extLst>
          </p:cNvPr>
          <p:cNvSpPr/>
          <p:nvPr/>
        </p:nvSpPr>
        <p:spPr>
          <a:xfrm>
            <a:off x="8164946" y="5883851"/>
            <a:ext cx="358170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6" name="Text 61">
            <a:extLst>
              <a:ext uri="{FF2B5EF4-FFF2-40B4-BE49-F238E27FC236}">
                <a16:creationId xmlns:a16="http://schemas.microsoft.com/office/drawing/2014/main" id="{DAC3D8CF-51A9-C32A-602A-9823833D17D4}"/>
              </a:ext>
            </a:extLst>
          </p:cNvPr>
          <p:cNvSpPr txBox="1"/>
          <p:nvPr/>
        </p:nvSpPr>
        <p:spPr>
          <a:xfrm>
            <a:off x="519334" y="5683598"/>
            <a:ext cx="1667497" cy="13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invest / partner ?</a:t>
            </a:r>
            <a:endParaRPr lang="en-US" sz="1000" dirty="0"/>
          </a:p>
        </p:txBody>
      </p:sp>
      <p:sp>
        <p:nvSpPr>
          <p:cNvPr id="147" name="Text 62">
            <a:extLst>
              <a:ext uri="{FF2B5EF4-FFF2-40B4-BE49-F238E27FC236}">
                <a16:creationId xmlns:a16="http://schemas.microsoft.com/office/drawing/2014/main" id="{050E49FF-1671-100C-AA07-F95CC1AD2D0B}"/>
              </a:ext>
            </a:extLst>
          </p:cNvPr>
          <p:cNvSpPr txBox="1"/>
          <p:nvPr/>
        </p:nvSpPr>
        <p:spPr>
          <a:xfrm>
            <a:off x="4379697" y="5713968"/>
            <a:ext cx="10579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not ?</a:t>
            </a:r>
            <a:endParaRPr lang="en-US" sz="1000" dirty="0"/>
          </a:p>
        </p:txBody>
      </p:sp>
      <p:sp>
        <p:nvSpPr>
          <p:cNvPr id="148" name="Text 63">
            <a:extLst>
              <a:ext uri="{FF2B5EF4-FFF2-40B4-BE49-F238E27FC236}">
                <a16:creationId xmlns:a16="http://schemas.microsoft.com/office/drawing/2014/main" id="{38355CF2-6484-8F2D-E261-56E09650D5AF}"/>
              </a:ext>
            </a:extLst>
          </p:cNvPr>
          <p:cNvSpPr txBox="1"/>
          <p:nvPr/>
        </p:nvSpPr>
        <p:spPr>
          <a:xfrm>
            <a:off x="8345954" y="5719920"/>
            <a:ext cx="2140270" cy="10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22222"/>
                </a:solidFill>
                <a:latin typeface="Montserrat"/>
              </a:rPr>
              <a:t>Rationale </a:t>
            </a:r>
            <a:endParaRPr lang="en-US" sz="1000" dirty="0"/>
          </a:p>
        </p:txBody>
      </p:sp>
      <p:sp>
        <p:nvSpPr>
          <p:cNvPr id="149" name="Shape 64">
            <a:extLst>
              <a:ext uri="{FF2B5EF4-FFF2-40B4-BE49-F238E27FC236}">
                <a16:creationId xmlns:a16="http://schemas.microsoft.com/office/drawing/2014/main" id="{A1C9754B-C7A1-385A-B65A-70585017112F}"/>
              </a:ext>
            </a:extLst>
          </p:cNvPr>
          <p:cNvSpPr/>
          <p:nvPr/>
        </p:nvSpPr>
        <p:spPr>
          <a:xfrm>
            <a:off x="3545224" y="5670861"/>
            <a:ext cx="437252" cy="171907"/>
          </a:xfrm>
          <a:prstGeom prst="roundRect">
            <a:avLst>
              <a:gd name="adj" fmla="val 354610"/>
            </a:avLst>
          </a:prstGeom>
          <a:solidFill>
            <a:srgbClr val="4CAF50">
              <a:alpha val="15000"/>
            </a:srgbClr>
          </a:solidFill>
          <a:ln w="12700">
            <a:solidFill>
              <a:srgbClr val="4CAF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Text 65">
            <a:extLst>
              <a:ext uri="{FF2B5EF4-FFF2-40B4-BE49-F238E27FC236}">
                <a16:creationId xmlns:a16="http://schemas.microsoft.com/office/drawing/2014/main" id="{0281B654-3D9B-0F84-0736-5A3A96B50080}"/>
              </a:ext>
            </a:extLst>
          </p:cNvPr>
          <p:cNvSpPr txBox="1"/>
          <p:nvPr/>
        </p:nvSpPr>
        <p:spPr>
          <a:xfrm>
            <a:off x="3708212" y="5719920"/>
            <a:ext cx="277063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51" name="Text 68">
            <a:extLst>
              <a:ext uri="{FF2B5EF4-FFF2-40B4-BE49-F238E27FC236}">
                <a16:creationId xmlns:a16="http://schemas.microsoft.com/office/drawing/2014/main" id="{BB0BF219-0B32-A38C-B67B-4E856AF05CA3}"/>
              </a:ext>
            </a:extLst>
          </p:cNvPr>
          <p:cNvSpPr txBox="1"/>
          <p:nvPr/>
        </p:nvSpPr>
        <p:spPr>
          <a:xfrm>
            <a:off x="8330084" y="6034281"/>
            <a:ext cx="33482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444444"/>
                </a:solidFill>
                <a:latin typeface="Montserrat" panose="00000500000000000000" pitchFamily="2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n-US" dirty="0"/>
              <a:t>Financial return potential, investment timeline, valuation considerations, IRR, MOIC and expected growth trajectory for the company, potential synergies with RNM.</a:t>
            </a:r>
          </a:p>
        </p:txBody>
      </p:sp>
      <p:sp>
        <p:nvSpPr>
          <p:cNvPr id="152" name="Shape 69">
            <a:extLst>
              <a:ext uri="{FF2B5EF4-FFF2-40B4-BE49-F238E27FC236}">
                <a16:creationId xmlns:a16="http://schemas.microsoft.com/office/drawing/2014/main" id="{34CE041E-8497-684D-C1D4-6CC34051BCC7}"/>
              </a:ext>
            </a:extLst>
          </p:cNvPr>
          <p:cNvSpPr/>
          <p:nvPr/>
        </p:nvSpPr>
        <p:spPr>
          <a:xfrm>
            <a:off x="7429769" y="5683598"/>
            <a:ext cx="476402" cy="171907"/>
          </a:xfrm>
          <a:prstGeom prst="roundRect">
            <a:avLst>
              <a:gd name="adj" fmla="val 354610"/>
            </a:avLst>
          </a:prstGeom>
          <a:solidFill>
            <a:srgbClr val="FFC107">
              <a:alpha val="15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Shape 70">
            <a:extLst>
              <a:ext uri="{FF2B5EF4-FFF2-40B4-BE49-F238E27FC236}">
                <a16:creationId xmlns:a16="http://schemas.microsoft.com/office/drawing/2014/main" id="{2B151DEB-52CD-E1F5-C45B-4D49134E45D0}"/>
              </a:ext>
            </a:extLst>
          </p:cNvPr>
          <p:cNvSpPr/>
          <p:nvPr/>
        </p:nvSpPr>
        <p:spPr>
          <a:xfrm>
            <a:off x="11213195" y="5683598"/>
            <a:ext cx="476402" cy="171907"/>
          </a:xfrm>
          <a:prstGeom prst="roundRect">
            <a:avLst>
              <a:gd name="adj" fmla="val 354610"/>
            </a:avLst>
          </a:prstGeom>
          <a:solidFill>
            <a:srgbClr val="FFC107">
              <a:alpha val="15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Text 71">
            <a:extLst>
              <a:ext uri="{FF2B5EF4-FFF2-40B4-BE49-F238E27FC236}">
                <a16:creationId xmlns:a16="http://schemas.microsoft.com/office/drawing/2014/main" id="{AC7FC1B8-4DDC-65AE-CC00-F8EEF5ED6123}"/>
              </a:ext>
            </a:extLst>
          </p:cNvPr>
          <p:cNvSpPr txBox="1"/>
          <p:nvPr/>
        </p:nvSpPr>
        <p:spPr>
          <a:xfrm>
            <a:off x="7496520" y="5712859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55" name="Text 72">
            <a:extLst>
              <a:ext uri="{FF2B5EF4-FFF2-40B4-BE49-F238E27FC236}">
                <a16:creationId xmlns:a16="http://schemas.microsoft.com/office/drawing/2014/main" id="{562AF95F-6F84-3C3B-4ABA-A23BC00243F3}"/>
              </a:ext>
            </a:extLst>
          </p:cNvPr>
          <p:cNvSpPr txBox="1"/>
          <p:nvPr/>
        </p:nvSpPr>
        <p:spPr>
          <a:xfrm>
            <a:off x="11094160" y="5712859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76AA51849ED748892A2842BB6F57A2" ma:contentTypeVersion="17" ma:contentTypeDescription="Crée un document." ma:contentTypeScope="" ma:versionID="fb89971ff8012c6117040606f6ed481b">
  <xsd:schema xmlns:xsd="http://www.w3.org/2001/XMLSchema" xmlns:xs="http://www.w3.org/2001/XMLSchema" xmlns:p="http://schemas.microsoft.com/office/2006/metadata/properties" xmlns:ns1="http://schemas.microsoft.com/sharepoint/v3" xmlns:ns2="4502a457-f796-48be-aa7b-0b342ce22411" xmlns:ns3="2b1ed673-f61f-4c8e-a97e-6b25a7ab17ed" targetNamespace="http://schemas.microsoft.com/office/2006/metadata/properties" ma:root="true" ma:fieldsID="ff4f1ad4c0c3daf31666c7dc9f633da0" ns1:_="" ns2:_="" ns3:_="">
    <xsd:import namespace="http://schemas.microsoft.com/sharepoint/v3"/>
    <xsd:import namespace="4502a457-f796-48be-aa7b-0b342ce22411"/>
    <xsd:import namespace="2b1ed673-f61f-4c8e-a97e-6b25a7ab17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2a457-f796-48be-aa7b-0b342ce22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d673-f61f-4c8e-a97e-6b25a7ab17e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06fd4aa-86e5-48ae-9a34-e016c5fe5139}" ma:internalName="TaxCatchAll" ma:showField="CatchAllData" ma:web="2b1ed673-f61f-4c8e-a97e-6b25a7ab17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b1ed673-f61f-4c8e-a97e-6b25a7ab17ed" xsi:nil="true"/>
    <lcf76f155ced4ddcb4097134ff3c332f xmlns="4502a457-f796-48be-aa7b-0b342ce22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4E0137-76D9-415E-B55F-334CB57C59E8}"/>
</file>

<file path=customXml/itemProps2.xml><?xml version="1.0" encoding="utf-8"?>
<ds:datastoreItem xmlns:ds="http://schemas.openxmlformats.org/officeDocument/2006/customXml" ds:itemID="{508515DA-1267-4D86-A555-87D988686D7F}"/>
</file>

<file path=customXml/itemProps3.xml><?xml version="1.0" encoding="utf-8"?>
<ds:datastoreItem xmlns:ds="http://schemas.openxmlformats.org/officeDocument/2006/customXml" ds:itemID="{5BE93336-FC36-4AD9-B33E-FDF4F03F53B7}"/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416</Words>
  <Application>Microsoft Office PowerPoint</Application>
  <PresentationFormat>Grand écran</PresentationFormat>
  <Paragraphs>55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Inter</vt:lpstr>
      <vt:lpstr>Montserrat</vt:lpstr>
      <vt:lpstr>Office Theme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LACASSAGNE Pierre</cp:lastModifiedBy>
  <cp:revision>2</cp:revision>
  <dcterms:created xsi:type="dcterms:W3CDTF">2026-01-30T17:11:05Z</dcterms:created>
  <dcterms:modified xsi:type="dcterms:W3CDTF">2026-02-02T14:44:51Z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 C</vt:lpwstr>
  </property>
  <property fmtid="{D5CDD505-2E9C-101B-9397-08002B2CF9AE}" pid="4" name="ContentTypeId">
    <vt:lpwstr>0x010100C476AA51849ED748892A2842BB6F57A2</vt:lpwstr>
  </property>
</Properties>
</file>